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79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1188720"/>
            <a:ext cx="1920240" cy="1920240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692640" y="11887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8686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456432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machine learning framework for district-level poverty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development risk assessment in India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6928" y="4434840"/>
            <a:ext cx="2331720" cy="329184"/>
          </a:xfrm>
          <a:prstGeom prst="rect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66928" y="443484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PROJECT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074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Amish Kapoor  ·  Aryan Chaturvedi  ·  Kushal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3583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L2(3P11), BE Third Year, CSE  —  Guide: Mr. Jeelani Asif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PRISM, and what the framework is designed to demonstrate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" y="2093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651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development data is fragmented across Census, NFHS-5 and MPI sources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State/district naming is inconsistent, making reliable merging difficult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aspirational districts from raw indicators alone is hard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33672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62272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46227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82896" y="2093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89704" y="2651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multi-source district data into one unified dataset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clustering and classification to reveal development patterns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 through feature-importance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18745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38744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38744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59368" y="2093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66176" y="265176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and standardize data with a common district key (dkey)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Random Forest and SVM classifiers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results against the official Aspirational Districts list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11274552" cy="960120"/>
          </a:xfrm>
          <a:prstGeom prst="roundRect">
            <a:avLst>
              <a:gd name="adj" fmla="val 7619"/>
            </a:avLst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13232" y="5111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98E04"/>
                </a:solidFill>
                <a:latin typeface="Calibri" pitchFamily="34" charset="0"/>
                <a:cs typeface="Calibri" pitchFamily="34" charset="-120"/>
              </a:rPr>
              <a:t>Tasks Under Process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5385816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integration, preprocessing and the clustering/classification pipeline are being built and running; full metric evaluation against the Aspirational Districts list is in progress for the final submission.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architecture, processing pipeline and technical stack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" y="2093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651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— base demographic dataset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NFHS-5 — health, nutrition, sanitation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— multidimensional poverty measures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Aspirational Districts list → target variable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33672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62272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462272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82896" y="2093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89704" y="2651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and data cleaning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engineering, selection and scaling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and hierarchical clustering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SVM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187452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38744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38744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659368" y="209397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66176" y="2651760"/>
            <a:ext cx="3017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Pandas, NumPy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modeling and evaluation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 — visualization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/ Google Colab, Git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39496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13232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BOUNDARY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5760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key (dkey) integration and the modeling pipeline are implemented; stratified cross-validation and final metric reporting are being completed for all three classifiers.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three-layer pipeline from raw data to interpretable output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00784" y="1965960"/>
            <a:ext cx="8778240" cy="1234440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56816" y="2400300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956816" y="24003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78024" y="213055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478024" y="2496312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and integrates Census 2011, NFHS-5 and MPI into one district-level dataset; the Aspirational Districts list supplies the target variable.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9904" y="3200400"/>
            <a:ext cx="0" cy="384048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700784" y="3584448"/>
            <a:ext cx="8778240" cy="1234440"/>
          </a:xfrm>
          <a:prstGeom prst="roundRect">
            <a:avLst>
              <a:gd name="adj" fmla="val 5926"/>
            </a:avLst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56816" y="4018788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956816" y="40187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478024" y="3749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478024" y="411480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EDA, cleaning, feature engineering, K-Means/hierarchical clustering, and Logistic Regression, Random Forest and SVM classification.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89904" y="4818888"/>
            <a:ext cx="0" cy="384048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700784" y="5202936"/>
            <a:ext cx="8778240" cy="1234440"/>
          </a:xfrm>
          <a:prstGeom prst="roundRect">
            <a:avLst>
              <a:gd name="adj" fmla="val 5926"/>
            </a:avLst>
          </a:prstGeom>
          <a:solidFill>
            <a:srgbClr val="8A5A0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56816" y="5637276"/>
            <a:ext cx="365760" cy="365760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956816" y="56372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478024" y="5367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2478024" y="573328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E4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clustering results, classification performance and feature importance into visualizations, tables and district-level summaries.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METHODOLOGY &amp; LIMITATIONS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PRISM is validated, and where the analysis is constrained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" y="2093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STAGES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65176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— correct loading, merging and dkey matching across sources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validation — NFHS-5 long-to-wide reshape and feature scaling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testing — elbow method and silhouette score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testing — stratified cross-validation across LR, RF, SVM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testing — fixed seeds, consistent results across reruns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37960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3796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093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65176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is historical; NFHS-5 and MPI use different survey periods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in data coverage and district boundaries affect integration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outliers can only be partly corrected in preprocessing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shows statistical association, not causation or future risk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planned, and what remains for the final submission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8580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" y="2093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METRICS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2651760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— clustering separation and cohesion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 and F1-score per classifier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for Logistic Regression, RF and SVM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rate against the official Aspirational Districts list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745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37960" y="2130552"/>
            <a:ext cx="310896" cy="310896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3796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58584" y="20939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WORK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651760"/>
            <a:ext cx="4892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model training and hyperparameter tuning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compare final metrics across all classifiers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feature-importance / SHAP-based explainability analysis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notebook or lightweight dashboard presentation layer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11274552" cy="822960"/>
          </a:xfrm>
          <a:prstGeom prst="roundRect">
            <a:avLst>
              <a:gd name="adj" fmla="val 8889"/>
            </a:avLst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13232" y="5504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NOTE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57607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will not be used to judge classifiers, since aspirational vs. non-aspirational districts are imbalanced; precision, recall and F1 will be reported alongside 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observations from the integration and modeling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58368" y="2075688"/>
            <a:ext cx="365760" cy="365760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5836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1993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district dataset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2286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Census 2011, NFHS-5 and MPI gives one comprehensive district-level view spanning demography, health, sanitation and poverty.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35808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58368" y="3236976"/>
            <a:ext cx="365760" cy="365760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58368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district matching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447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names and the dkey key resolve mismatches between districts that share similar names across states.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197096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" y="4398264"/>
            <a:ext cx="365760" cy="365760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58368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4315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lenses on development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6085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surfaces similarity groups while classification directly targets aspirational status — together they cross-check each other.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1874520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10528" y="2075688"/>
            <a:ext cx="365760" cy="365760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510528" y="2075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199339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by design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22860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analysis keeps classification results explainable rather than a black box.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035808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10528" y="3236976"/>
            <a:ext cx="365760" cy="365760"/>
          </a:xfrm>
          <a:prstGeom prst="ellipse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510528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31546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sources, more signal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022592" y="34472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government datasets reveals patterns a single source would miss.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4197096"/>
            <a:ext cx="5394960" cy="960120"/>
          </a:xfrm>
          <a:prstGeom prst="roundRect">
            <a:avLst>
              <a:gd name="adj" fmla="val 6667"/>
            </a:avLst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583680" y="4325112"/>
            <a:ext cx="4846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“Results should be read as statistical association, not proof of causation.”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7772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RECOMMENDATIONS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6187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PRISM beyond the mid-semester prototype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6656" y="2075688"/>
            <a:ext cx="310896" cy="310896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24780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updates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newer government datasets and future survey releases.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33672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453128" y="2075688"/>
            <a:ext cx="310896" cy="310896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453128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53128" y="24780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53128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education, employment and infrastructure indicators.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10144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2075688"/>
            <a:ext cx="310896" cy="310896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22960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247802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277063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ensembles and systematic hyperparameter tuning.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5478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656" y="3749040"/>
            <a:ext cx="310896" cy="310896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76656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" y="41513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explainability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4443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SHAP for per-district prediction explanations.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33672" y="35478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453128" y="3749040"/>
            <a:ext cx="310896" cy="310896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453128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453128" y="41513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Geo-visualization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453128" y="4443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maps of clusters and risk scores.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010144" y="35478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1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8229600" y="3749040"/>
            <a:ext cx="310896" cy="310896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8229600" y="3749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415137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delivery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44439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an interactive dashboard for agencies and researchers.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PROJECT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228832" y="256032"/>
            <a:ext cx="384048" cy="384048"/>
          </a:xfrm>
          <a:prstGeom prst="ellipse">
            <a:avLst/>
          </a:prstGeom>
          <a:solidFill>
            <a:srgbClr val="D98E0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228832" y="256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9456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D7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 integrates Census 2011, NFHS-5, MPI and Aspirational Districts data into a single, reproducible pipeline — combining clustering, classification and feature-importance analysis to make district-level development risk both measurable and explainable.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merged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401568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compared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236208" y="37490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6236208" y="4526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methods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5349240"/>
            <a:ext cx="11064240" cy="0"/>
          </a:xfrm>
          <a:prstGeom prst="line">
            <a:avLst/>
          </a:prstGeom>
          <a:noFill/>
          <a:ln w="12700">
            <a:solidFill>
              <a:srgbClr val="2C3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607040" y="64739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kern="0" spc="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902</Words>
  <Application>Microsoft Macintosh PowerPoint</Application>
  <PresentationFormat>Widescreen</PresentationFormat>
  <Paragraphs>170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Praveen Chaturvedi</cp:lastModifiedBy>
  <cp:revision>2</cp:revision>
  <dcterms:created xsi:type="dcterms:W3CDTF">2026-09-15T21:50:38Z</dcterms:created>
  <dcterms:modified xsi:type="dcterms:W3CDTF">2026-09-15T21:56:53Z</dcterms:modified>
</cp:coreProperties>
</file>