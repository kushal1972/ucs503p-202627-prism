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73649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233172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3017520"/>
            <a:ext cx="1371600" cy="137160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5" name="Image 0" descr="/home/claude/poverty_ppt/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4" y="3346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51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MINOR PROJECT  • 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508760"/>
            <a:ext cx="7040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Poverty &amp; Development Zones in India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429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data-fusion approach using government datasets to map, classify, and explain district-level development gaps across India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31520" y="5138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88036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880360" y="5138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Goals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029200" y="5138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Data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9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Fused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152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Names  |  Roll Numbers  |  Section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Development-Gap Mapping Matters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runs some of the world’s largest anti-poverty programmes, yet resource allocation still leans heavily on outdated, single-source indicators — mainly Census 2011. Meanwhile NITI Aayog, NFHS, and SDG data streams sit in isolation, rarely combined to give a fuller, current picture of where interventions are actually needed.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poverty_ppt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576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34930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targeting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37764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funds reach the right districts only if the underlying data is current and fused, not siloed.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0" name="Image 1" descr="/home/claude/poverty_ppt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57200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4074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accountability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17320" y="46908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Aspirational Districts Programme (2018) needs measurable, data-backed evidence of real impact.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534924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4" name="Image 2" descr="/home/claude/poverty_ppt/icons/peopleroo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53218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stakes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17320" y="56052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misclassified district can mean delayed healthcare, schools, or water infrastructure for real people.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178040" y="1600200"/>
            <a:ext cx="4389120" cy="4480560"/>
          </a:xfrm>
          <a:prstGeom prst="roundRect">
            <a:avLst>
              <a:gd name="adj" fmla="val 2500"/>
            </a:avLst>
          </a:prstGeom>
          <a:solidFill>
            <a:srgbClr val="F4EEE4"/>
          </a:solidFill>
          <a:ln/>
        </p:spPr>
      </p:sp>
      <p:sp>
        <p:nvSpPr>
          <p:cNvPr id="18" name="Text 13"/>
          <p:cNvSpPr/>
          <p:nvPr/>
        </p:nvSpPr>
        <p:spPr>
          <a:xfrm>
            <a:off x="75438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TODAY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54380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yrs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7543800" y="286207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data still anchors most poverty studies at district level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543800" y="35935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7543800" y="412394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source typically used per study — rarely fused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543800" y="485546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7543800" y="538581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student projects that validate against real ADP outcomes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Poverty &amp; Development Zones in India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6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Approaches Fall Short in Three 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822960" cy="82296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6" name="Image 0" descr="/home/claude/poverty_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3500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365760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development is scored from one dataset at a time (usually Census or SDG Index alone), so no study captures health, income, and infrastructure together.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9976" y="178308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0016" y="2148840"/>
            <a:ext cx="822960" cy="82296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12" name="Image 1" descr="/home/claude/poverty_ppt/icons/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35000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31736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00016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ground-truth check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00016" y="365760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or predictions are rarely validated against a real outcome — e.g., whether a district is actually on the government’s own Aspirational Districts list.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19872" y="178308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39912" y="2148840"/>
            <a:ext cx="822960" cy="82296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18" name="Image 2" descr="/home/claude/poverty_ppt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35000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71632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>
                    <a:alpha val="4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39912" y="31546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outputs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439912" y="3657600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report accuracy but not *why* a district is flagged — leaving policymakers with a label and no explanation to act on.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5779008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fusing multiple government datasets, validated against real Aspirational District outcomes, produce an explainable model of where development is truly lagging?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Poverty &amp; Development Zones in India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Fused, Validated &amp; Explainable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211580" y="178308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5" name="Image 0" descr="/home/claude/poverty_pp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19842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00837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Index + Census + NFHS + ADP list, merged &amp; cleaned</a:t>
            </a:r>
            <a:endParaRPr lang="en-US" sz="950" dirty="0"/>
          </a:p>
        </p:txBody>
      </p:sp>
      <p:pic>
        <p:nvPicPr>
          <p:cNvPr id="8" name="Image 1" descr="/home/claude/poverty_ppt/icon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2075688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33572" y="1783080"/>
            <a:ext cx="822960" cy="82296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10" name="Image 2" descr="/home/claude/poverty_ppt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984248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24912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2770632" y="300837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hierarchical clustering group districts by development</a:t>
            </a:r>
            <a:endParaRPr lang="en-US" sz="950" dirty="0"/>
          </a:p>
        </p:txBody>
      </p:sp>
      <p:pic>
        <p:nvPicPr>
          <p:cNvPr id="13" name="Image 3" descr="/home/claude/poverty_ppt/icon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2075688"/>
            <a:ext cx="237744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655564" y="178308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5" name="Image 4" descr="/home/claude/poverty_ppt/icons/flas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32" y="1984248"/>
            <a:ext cx="420624" cy="42062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46904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992624" y="300837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SVM, Logistic Regression predict Aspirational-District status</a:t>
            </a:r>
            <a:endParaRPr lang="en-US" sz="950" dirty="0"/>
          </a:p>
        </p:txBody>
      </p:sp>
      <p:pic>
        <p:nvPicPr>
          <p:cNvPr id="18" name="Image 5" descr="/home/claude/poverty_ppt/icons/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9168" y="2075688"/>
            <a:ext cx="237744" cy="23774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877556" y="1783080"/>
            <a:ext cx="822960" cy="82296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20" name="Image 6" descr="/home/claude/poverty_ppt/icons/bra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8724" y="1984248"/>
            <a:ext cx="420624" cy="42062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168896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7214616" y="300837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*why* a district is flagged</a:t>
            </a:r>
            <a:endParaRPr lang="en-US" sz="950" dirty="0"/>
          </a:p>
        </p:txBody>
      </p:sp>
      <p:pic>
        <p:nvPicPr>
          <p:cNvPr id="23" name="Image 7" descr="/home/claude/poverty_ppt/icons/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2075688"/>
            <a:ext cx="237744" cy="237744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10099548" y="178308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5" name="Image 8" descr="/home/claude/poverty_ppt/icons/seedlin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0716" y="1984248"/>
            <a:ext cx="420624" cy="42062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9390888" y="26974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27" name="Text 16"/>
          <p:cNvSpPr/>
          <p:nvPr/>
        </p:nvSpPr>
        <p:spPr>
          <a:xfrm>
            <a:off x="9436608" y="3008376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tool flags risk zones for targeted policy</a:t>
            </a:r>
            <a:endParaRPr lang="en-US" sz="950" dirty="0"/>
          </a:p>
        </p:txBody>
      </p:sp>
      <p:sp>
        <p:nvSpPr>
          <p:cNvPr id="28" name="Shape 17"/>
          <p:cNvSpPr/>
          <p:nvPr/>
        </p:nvSpPr>
        <p:spPr>
          <a:xfrm>
            <a:off x="640080" y="4160520"/>
            <a:ext cx="10908792" cy="2011680"/>
          </a:xfrm>
          <a:prstGeom prst="roundRect">
            <a:avLst>
              <a:gd name="adj" fmla="val 5455"/>
            </a:avLst>
          </a:prstGeom>
          <a:solidFill>
            <a:srgbClr val="F4EEE4"/>
          </a:solidFill>
          <a:ln/>
        </p:spPr>
      </p:sp>
      <p:sp>
        <p:nvSpPr>
          <p:cNvPr id="29" name="Text 18"/>
          <p:cNvSpPr/>
          <p:nvPr/>
        </p:nvSpPr>
        <p:spPr>
          <a:xfrm>
            <a:off x="960120" y="4370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1100" dirty="0"/>
          </a:p>
        </p:txBody>
      </p:sp>
      <p:sp>
        <p:nvSpPr>
          <p:cNvPr id="30" name="Shape 19"/>
          <p:cNvSpPr/>
          <p:nvPr/>
        </p:nvSpPr>
        <p:spPr>
          <a:xfrm>
            <a:off x="960120" y="482803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1" name="Text 20"/>
          <p:cNvSpPr/>
          <p:nvPr/>
        </p:nvSpPr>
        <p:spPr>
          <a:xfrm>
            <a:off x="1216152" y="4709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fusion</a:t>
            </a:r>
            <a:endParaRPr lang="en-US" sz="1250" dirty="0"/>
          </a:p>
        </p:txBody>
      </p:sp>
      <p:sp>
        <p:nvSpPr>
          <p:cNvPr id="32" name="Text 21"/>
          <p:cNvSpPr/>
          <p:nvPr/>
        </p:nvSpPr>
        <p:spPr>
          <a:xfrm>
            <a:off x="1216152" y="50109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dataset like most student projects</a:t>
            </a:r>
            <a:endParaRPr lang="en-US" sz="1050" dirty="0"/>
          </a:p>
        </p:txBody>
      </p:sp>
      <p:sp>
        <p:nvSpPr>
          <p:cNvPr id="33" name="Shape 22"/>
          <p:cNvSpPr/>
          <p:nvPr/>
        </p:nvSpPr>
        <p:spPr>
          <a:xfrm>
            <a:off x="4480560" y="482803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4" name="Text 23"/>
          <p:cNvSpPr/>
          <p:nvPr/>
        </p:nvSpPr>
        <p:spPr>
          <a:xfrm>
            <a:off x="4736592" y="4709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not assumed</a:t>
            </a:r>
            <a:endParaRPr lang="en-US" sz="1250" dirty="0"/>
          </a:p>
        </p:txBody>
      </p:sp>
      <p:sp>
        <p:nvSpPr>
          <p:cNvPr id="35" name="Text 24"/>
          <p:cNvSpPr/>
          <p:nvPr/>
        </p:nvSpPr>
        <p:spPr>
          <a:xfrm>
            <a:off x="4736592" y="50109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checked against real ADP labels</a:t>
            </a:r>
            <a:endParaRPr lang="en-US" sz="1050" dirty="0"/>
          </a:p>
        </p:txBody>
      </p:sp>
      <p:sp>
        <p:nvSpPr>
          <p:cNvPr id="36" name="Shape 25"/>
          <p:cNvSpPr/>
          <p:nvPr/>
        </p:nvSpPr>
        <p:spPr>
          <a:xfrm>
            <a:off x="8001000" y="482803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7" name="Text 26"/>
          <p:cNvSpPr/>
          <p:nvPr/>
        </p:nvSpPr>
        <p:spPr>
          <a:xfrm>
            <a:off x="8257032" y="47091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8257032" y="50109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importance, not just a black-box score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Poverty &amp; Development Zones in India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2026-08-11T16:03:14Z</dcterms:created>
  <dcterms:modified xsi:type="dcterms:W3CDTF">2026-08-11T16:03:14Z</dcterms:modified>
</cp:coreProperties>
</file>